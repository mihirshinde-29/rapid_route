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222222"/>
                </a:solidFill>
                <a:latin typeface="Arial"/>
              </a:rPr>
              <a:t>Time for a unit to cross the same test route (s)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Seconds</c:v>
                </c:pt>
              </c:strCache>
            </c:strRef>
          </c:tx>
          <c:spPr>
            <a:solidFill>
              <a:srgbClr val="999999"/>
            </a:solidFill>
          </c:spPr>
          <c:dPt>
            <c:idx val="1"/>
            <c:spPr>
              <a:solidFill>
                <a:srgbClr val="CC0033"/>
              </a:solidFill>
            </c:spPr>
          </c:dPt>
          <c:cat>
            <c:strRef>
              <c:f>Sheet1!$A$2:$A$3</c:f>
              <c:strCache>
                <c:ptCount val="2"/>
                <c:pt idx="0">
                  <c:v>Siren off (stuck behind cars)</c:v>
                </c:pt>
                <c:pt idx="1">
                  <c:v>Siren on, with yielding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265</c:v>
                </c:pt>
                <c:pt idx="1">
                  <c:v>120</c:v>
                </c:pt>
              </c:numCache>
            </c:numRef>
          </c:val>
        </c:ser>
        <c:dLbls>
          <c:numFmt formatCode="0&quot; s&quot;" sourceLinked="0"/>
          <c:txPr>
            <a:bodyPr/>
            <a:lstStyle/>
            <a:p>
              <a:pPr>
                <a:defRPr sz="1300" b="1"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BBBBB"/>
            </a:solidFill>
          </a:ln>
        </c:spPr>
        <c:txPr>
          <a:bodyPr/>
          <a:lstStyle/>
          <a:p>
            <a:pPr>
              <a:defRPr sz="12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20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[Ananya · 0:00–0:15]</a:t>
            </a:r>
          </a:p>
          <a:p>
            <a:r>
              <a:t>Hi, we are Group Rapid Route: Ananya and Mihir. Our project is Dispatch, a traffic and emergency response simulation in a 3D city in the browser.</a:t>
            </a:r>
          </a:p>
        </p:txBody>
      </p:sp>
      <p:sp>
        <p:nvSpPr>
          <p:cNvPr id="82" name="Google Shape;8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[Ananya · 0:15–0:50]</a:t>
            </a:r>
          </a:p>
          <a:p>
            <a:r>
              <a:t>About 700 cars drive door to door, and emergency units answer calls through that same traffic. You play the dispatcher: pick a unit and it drives there through real traffic.</a:t>
            </a:r>
          </a:p>
          <a:p>
            <a:r>
              <a:t>Our pillars are Pathfinding and Navigation, and Swarm and Boids Modeling.</a:t>
            </a:r>
          </a:p>
          <a:p>
            <a:r>
              <a:t>Today we go deep on two problems: routing in changing traffic, and getting traffic to yield to a unit.</a:t>
            </a:r>
          </a:p>
        </p:txBody>
      </p:sp>
      <p:sp>
        <p:nvSpPr>
          <p:cNvPr id="89" name="Google Shape;8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9d003a7a8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9d003a7a8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[Ananya · 0:50–2:30]</a:t>
            </a:r>
          </a:p>
          <a:p>
            <a:r>
              <a:t>The shortest route is not always the fastest: congestion, accidents and closures change road costs while the simulation runs.</a:t>
            </a:r>
          </a:p>
          <a:p>
            <a:r>
              <a:t>That is hard because A* assumes fixed edge costs, the closest unit is not always the fastest, and the route has to become smooth vehicle movement that matches the call's state.</a:t>
            </a:r>
          </a:p>
          <a:p>
            <a:r>
              <a:t>Our approach: A* on live travel times. New trips plan on current costs, incidents reroute cars, and a call gets the available unit with the best ETA.</a:t>
            </a:r>
          </a:p>
          <a:p>
            <a:r>
              <a:t>The result: our first ETA was about 1.7 times too high for units with sirens, because cars make way for them. With their own cost model, units now arrive in a median of 1.00 of their ETA.</a:t>
            </a:r>
          </a:p>
          <a:p>
            <a:r>
              <a:t>Tradeoff: we don't replan every car every frame; it is stable but simpler than a real navigation app.</a:t>
            </a:r>
          </a:p>
          <a:p>
            <a:r>
              <a:t>Mihir will take the second challenge.</a:t>
            </a:r>
          </a:p>
        </p:txBody>
      </p:sp>
      <p:sp>
        <p:nvSpPr>
          <p:cNvPr id="96" name="Google Shape;96;g3d9d003a7a8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9d003a7a8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[Mihir · 2:30–3:50]</a:t>
            </a:r>
          </a:p>
          <a:p>
            <a:r>
              <a:t>How do cars make way for a unit when there is one lane each way? Our car-following model only looks ahead, but yielding means reacting to something behind.</a:t>
            </a:r>
          </a:p>
          <a:p>
            <a:r>
              <a:t>Our approach is boids-style. Cars up to 120 metres ahead pull 2 metres onto the shoulder and stop: separation. The unit passes only cars that have pulled over, and they merge back once it is 20 metres ahead: cohesion. Junctions ahead are held so cross traffic waits.</a:t>
            </a:r>
          </a:p>
          <a:p>
            <a:r>
              <a:t>The hard part was deadlock: a stress run found three cases, fixed with simple rules, like stopping the yield chain at a car that cannot pull over.</a:t>
            </a:r>
          </a:p>
          <a:p>
            <a:r>
              <a:t>The screenshot is our debug view: route in cyan, orange arrows on cars pulling over, pink ring on a held junction.</a:t>
            </a:r>
          </a:p>
        </p:txBody>
      </p:sp>
      <p:sp>
        <p:nvSpPr>
          <p:cNvPr id="102" name="Google Shape;102;g3d9d003a7a8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9d003a7a8_0_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9d003a7a8_0_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[Mihir · 3:50–5:00]</a:t>
            </a:r>
          </a:p>
          <a:p>
            <a:r>
              <a:t>With yielding, the unit crosses the test route in 120 seconds instead of 265.</a:t>
            </a:r>
          </a:p>
          <a:p>
            <a:r>
              <a:t>It doesn't break the city: no cars removed by the gridlock guard in any test, and a sim step stays under half a millisecond.</a:t>
            </a:r>
          </a:p>
          <a:p>
            <a:r>
              <a:t>Tradeoffs: pulling over is a 2 metre move, not a real second lane; blocked lanes pass one side at a time, so queues build at rush hour; and a re-sent unit can start off the wrong way.</a:t>
            </a:r>
          </a:p>
          <a:p>
            <a:r>
              <a:t>The live build is at the link. Thank you, happy to take questions.</a:t>
            </a:r>
          </a:p>
        </p:txBody>
      </p:sp>
      <p:sp>
        <p:nvSpPr>
          <p:cNvPr id="109" name="Google Shape;109;g3d9d003a7a8_0_7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1353800" y="6356350"/>
            <a:ext cx="5553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black background with a black square&#10;&#10;Description automatically generated with medium confidence"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804" y="6292442"/>
            <a:ext cx="1079602" cy="320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1524000" y="1234439"/>
            <a:ext cx="9144000" cy="227552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9791" y="457200"/>
            <a:ext cx="2616708" cy="777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11353800" y="6356350"/>
            <a:ext cx="5553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black background with a black square&#10;&#10;Description automatically generated with medium confidence" id="27" name="Google Shape;27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804" y="6292442"/>
            <a:ext cx="1079602" cy="320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11353800" y="6356350"/>
            <a:ext cx="5553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black background with a black square&#10;&#10;Description automatically generated with medium confidence" id="34" name="Google Shape;34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804" y="6292442"/>
            <a:ext cx="1079602" cy="320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8" name="Google Shape;38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11353800" y="6356350"/>
            <a:ext cx="5553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black background with a black square&#10;&#10;Description automatically generated with medium confidence" id="43" name="Google Shape;43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804" y="6292442"/>
            <a:ext cx="1079602" cy="320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11353800" y="6356350"/>
            <a:ext cx="5553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black background with a black square&#10;&#10;Description automatically generated with medium confidence" id="48" name="Google Shape;48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804" y="6292442"/>
            <a:ext cx="1079602" cy="320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8"/>
          <p:cNvSpPr txBox="1"/>
          <p:nvPr>
            <p:ph idx="12" type="sldNum"/>
          </p:nvPr>
        </p:nvSpPr>
        <p:spPr>
          <a:xfrm>
            <a:off x="11353800" y="6356350"/>
            <a:ext cx="5553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black background with a black square&#10;&#10;Description automatically generated with medium confidence" id="52" name="Google Shape;5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804" y="6292442"/>
            <a:ext cx="1079602" cy="320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6" name="Google Shape;56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7" name="Google Shape;5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9"/>
          <p:cNvSpPr txBox="1"/>
          <p:nvPr>
            <p:ph idx="12" type="sldNum"/>
          </p:nvPr>
        </p:nvSpPr>
        <p:spPr>
          <a:xfrm>
            <a:off x="11353800" y="6356350"/>
            <a:ext cx="5553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black background with a black square&#10;&#10;Description automatically generated with medium confidence" id="59" name="Google Shape;5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804" y="6292442"/>
            <a:ext cx="1079602" cy="320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0"/>
          <p:cNvSpPr txBox="1"/>
          <p:nvPr>
            <p:ph idx="12" type="sldNum"/>
          </p:nvPr>
        </p:nvSpPr>
        <p:spPr>
          <a:xfrm>
            <a:off x="11353800" y="6356350"/>
            <a:ext cx="5553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black background with a black square&#10;&#10;Description automatically generated with medium confidence" id="66" name="Google Shape;66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804" y="6292442"/>
            <a:ext cx="1079602" cy="320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11353800" y="6356350"/>
            <a:ext cx="5553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black background with a black square&#10;&#10;Description automatically generated with medium confidence" id="72" name="Google Shape;72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9804" y="6292442"/>
            <a:ext cx="1079602" cy="320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A red letter r on a black background&#10;&#10;Description automatically generated" id="77" name="Google Shape;7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85707" y="6392127"/>
            <a:ext cx="369418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11353800" y="6356350"/>
            <a:ext cx="555331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 black background with a black square&#10;&#10;Description automatically generated with medium confidence" id="79" name="Google Shape;7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9804" y="6292442"/>
            <a:ext cx="1079602" cy="320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hyperlink" Target="https://mihirshinde-29.github.io/rapid_route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laude.ai/artifact/YHhhN9f618rFX2LeG3Dicb" TargetMode="External"/><Relationship Id="rId4" Type="http://schemas.openxmlformats.org/officeDocument/2006/relationships/hyperlink" Target="https://claude.ai/artifact/YHhhN9f618rFX2LeG3Dicb" TargetMode="External"/><Relationship Id="rId5" Type="http://schemas.openxmlformats.org/officeDocument/2006/relationships/hyperlink" Target="https://claude.ai/artifact/YHhhN9f618rFX2LeG3Dicb" TargetMode="External"/><Relationship Id="rId6" Type="http://schemas.openxmlformats.org/officeDocument/2006/relationships/chart" Target="../charts/chart1.xml"/><Relationship Id="rId7" Type="http://schemas.openxmlformats.org/officeDocument/2006/relationships/hyperlink" Target="https://mihirshinde-29.github.io/rapid_rout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1524000" y="1519326"/>
            <a:ext cx="93324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alibri"/>
              <a:buNone/>
            </a:pPr>
            <a:r>
              <a:rPr lang="en-US" sz="4200"/>
              <a:t>Dispatch - Autonomous Traffic &amp; Emergency Response Simulation</a:t>
            </a:r>
            <a:endParaRPr sz="4200"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524000" y="480738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Group: Rapid Route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Mihir Shinde (mk1353)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Ananya Das Hullumane Neelameghashyam (ah1895)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644750" y="298000"/>
            <a:ext cx="42171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for Visual Computing · CS 549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841248" y="365760"/>
            <a:ext cx="10515600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600"/>
              <a:t>Project Overview</a:t>
            </a:r>
            <a:endParaRPr sz="4200"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841248" y="1325880"/>
            <a:ext cx="5669280" cy="4480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Goal</a:t>
            </a:r>
          </a:p>
          <a:p>
            <a:pPr marL="0" indent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A browser-based 3D city where about 700 cars drive door to door on generated demand, and emergency units answer calls through that same traffic. You play the dispatcher: take calls, send units, beat the response target.</a:t>
            </a:r>
          </a:p>
          <a:p>
            <a:pPr marL="0" indent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Pillars</a:t>
            </a:r>
          </a:p>
          <a:p>
            <a:pPr marL="228600" indent="-2286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Pathfinding and Navigation: 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A* on live travel times, unit ETAs, rerouting around incidents, coverage map.</a:t>
            </a:r>
          </a:p>
          <a:p>
            <a:pPr marL="228600" indent="-2286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Swarm and Boids Modeling: </a:t>
            </a:r>
            <a:r>
              <a:rPr lang="en-US" sz="1500">
                <a:latin typeface="Arial"/>
                <a:ea typeface="Arial"/>
                <a:cs typeface="Arial"/>
                <a:sym typeface="Arial"/>
              </a:rPr>
              <a:t>car following, junction behaviour, and traffic that makes way for sirens.</a:t>
            </a:r>
          </a:p>
          <a:p>
            <a:pPr marL="0" indent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500" b="1">
                <a:latin typeface="Arial"/>
                <a:ea typeface="Arial"/>
                <a:cs typeface="Arial"/>
                <a:sym typeface="Arial"/>
              </a:rPr>
              <a:t>Today: two challenges</a:t>
            </a:r>
          </a:p>
          <a:p>
            <a:pPr marL="0" indent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1. Routing and dispatch while road costs keep changing</a:t>
            </a:r>
          </a:p>
          <a:p>
            <a:pPr marL="0" indent="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latin typeface="Arial"/>
                <a:ea typeface="Arial"/>
                <a:cs typeface="Arial"/>
                <a:sym typeface="Arial"/>
              </a:rPr>
              <a:t>2. Getting one-lane traffic to yield to an emergency unit</a:t>
            </a:r>
          </a:p>
        </p:txBody>
      </p:sp>
      <p:pic>
        <p:nvPicPr>
          <p:cNvPr id="93" name="City screenshot" descr="cit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371600"/>
            <a:ext cx="4572000" cy="3595456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6812280" y="5040208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The city at the PM rush: stations, live calls and a unit route (yellow).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812280" y="54864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latin typeface="Arial"/>
                <a:ea typeface="Arial"/>
                <a:cs typeface="Arial"/>
                <a:sym typeface="Arial"/>
              </a:rPr>
              <a:t>Live build: </a:t>
            </a:r>
            <a:r>
              <a:rPr lang="en-US" sz="1300">
                <a:latin typeface="Arial"/>
                <a:ea typeface="Arial"/>
                <a:cs typeface="Arial"/>
                <a:sym typeface="Arial"/>
                <a:hlinkClick r:id="rId4"/>
              </a:rPr>
              <a:t>mihirshinde-29.github.io/rapid_route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841248" y="365760"/>
            <a:ext cx="10515600" cy="758952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Challenge 1: Dynamic Routing and Emergency Dispatch</a:t>
            </a:r>
            <a:endParaRPr sz="3500"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841248" y="1234440"/>
            <a:ext cx="6172200" cy="493776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The shortest route is not always the fastest.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Congestion, accidents and closures change the cost of each road while the simulation runs.</a:t>
            </a:r>
          </a:p>
          <a:p>
            <a:pPr marL="0" indent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Why this is difficult</a:t>
            </a:r>
          </a:p>
          <a:p>
            <a:pPr marL="228600" indent="-2286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A* searches a graph, but road costs change dynamically.</a:t>
            </a:r>
          </a:p>
          <a:p>
            <a:pPr marL="228600" indent="-2286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The closest emergency unit may not have the lowest ETA.</a:t>
            </a:r>
          </a:p>
          <a:p>
            <a:pPr marL="228600" indent="-2286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A graph route must become continuous vehicle movement.</a:t>
            </a:r>
          </a:p>
          <a:p>
            <a:pPr marL="228600" indent="-2286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Dispatch state and vehicle state must stay in sync.</a:t>
            </a:r>
          </a:p>
          <a:p>
            <a:pPr marL="228600" indent="-2286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Rerouting must help without making vehicles unstable.</a:t>
            </a:r>
          </a:p>
          <a:p>
            <a:pPr marL="0" indent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Our approach</a:t>
            </a:r>
          </a:p>
          <a:p>
            <a:pPr marL="228600" indent="-2286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A* with live travel-time costs; distance vs time routes compared.</a:t>
            </a:r>
          </a:p>
          <a:p>
            <a:pPr marL="228600" indent="-2286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New trips plan on current costs; incidents reroute cars.</a:t>
            </a:r>
          </a:p>
          <a:p>
            <a:pPr marL="228600" indent="-2286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Filter units by type and availability; send the best ETA.</a:t>
            </a:r>
          </a:p>
          <a:p>
            <a:pPr marL="228600" indent="-2286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Track each call: created, assigned, en route, resolved.</a:t>
            </a:r>
          </a:p>
        </p:txBody>
      </p:sp>
      <p:sp>
        <p:nvSpPr>
          <p:cNvPr id="100" name="Result panel"/>
          <p:cNvSpPr/>
          <p:nvPr/>
        </p:nvSpPr>
        <p:spPr>
          <a:xfrm>
            <a:off x="7269480" y="1325880"/>
            <a:ext cx="4114800" cy="416052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498079" y="1508760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What the results show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498079" y="192024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CC0033"/>
                </a:solidFill>
                <a:latin typeface="Arial"/>
                <a:ea typeface="Arial"/>
                <a:cs typeface="Arial"/>
                <a:sym typeface="Arial"/>
              </a:rPr>
              <a:t>1.7×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98079" y="2423160"/>
            <a:ext cx="3657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too high: the plain live-traffic ETA for a unit with its siren on, because it assumed the unit waits in traffic like a car.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498079" y="315468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CC0033"/>
                </a:solidFill>
                <a:latin typeface="Arial"/>
                <a:ea typeface="Arial"/>
                <a:cs typeface="Arial"/>
                <a:sym typeface="Arial"/>
              </a:rPr>
              <a:t>1.00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498079" y="3657600"/>
            <a:ext cx="3657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median actual / predicted arrival after giving units their own cost model (morning peak; 10th–90th percentile 0.93–1.16).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498079" y="4434840"/>
            <a:ext cx="3657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1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Tradeoff: </a:t>
            </a:r>
            <a:r>
              <a:rPr lang="en-US" sz="11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we do not replan every car every frame, which would make cars flip between routes. New trips use current costs and incidents trigger rerouting: stable, but simpler than a real navigation app.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841248" y="365760"/>
            <a:ext cx="10515600" cy="7589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3600"/>
              <a:t>Challenge 2: Making Traffic Yield to Emergency Units</a:t>
            </a:r>
            <a:endParaRPr sz="4200"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841248" y="1234440"/>
            <a:ext cx="5806440" cy="4937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Why this is difficult</a:t>
            </a:r>
          </a:p>
          <a:p>
            <a:pPr marL="228600" indent="-2286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One lane each way: there is no free lane to pass in.</a:t>
            </a:r>
          </a:p>
          <a:p>
            <a:pPr marL="228600" indent="-2286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Car following (IDM) only looks at the car ahead; yielding needs cars to react to a unit behind them.</a:t>
            </a:r>
          </a:p>
          <a:p>
            <a:pPr marL="228600" indent="-2286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A car can only pull over where there is room: not in a junction, a queue or past an accident.</a:t>
            </a:r>
          </a:p>
          <a:p>
            <a:pPr marL="228600" indent="-2286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Local rules can deadlock: a stress run found 3 cases.</a:t>
            </a:r>
          </a:p>
          <a:p>
            <a:pPr marL="0" indent="0" algn="l">
              <a:lnSpc>
                <a:spcPct val="10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Our approach</a:t>
            </a:r>
          </a:p>
          <a:p>
            <a:pPr marL="228600" indent="-2286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Yield reach: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cars up to 120 m ahead on the unit's route pull 2 m onto the shoulder and stop (separation).</a:t>
            </a:r>
          </a:p>
          <a:p>
            <a:pPr marL="228600" indent="-2286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Pass, then merge back: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the unit passes only cars that have pulled over; they rejoin once it is 20 m ahead (cohesion).</a:t>
            </a:r>
          </a:p>
          <a:p>
            <a:pPr marL="228600" indent="-2286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Junction pre-emption: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a junction within 100 m of the unit is held, so cross traffic waits.</a:t>
            </a:r>
          </a:p>
          <a:p>
            <a:pPr marL="228600" indent="-228600"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1400" b="1">
                <a:latin typeface="Arial"/>
                <a:ea typeface="Arial"/>
                <a:cs typeface="Arial"/>
                <a:sym typeface="Arial"/>
              </a:rPr>
              <a:t>Deadlock rules: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the yield chain stops at a car that cannot pull over; a held junction still lets the unit's own approach in.</a:t>
            </a:r>
          </a:p>
        </p:txBody>
      </p:sp>
      <p:pic>
        <p:nvPicPr>
          <p:cNvPr id="106" name="Boids view screenshot" descr="boid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371600"/>
            <a:ext cx="4526280" cy="2615184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6903720" y="4078223"/>
            <a:ext cx="4526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Boids debug view (B): an ambulance on its route (cyan). Orange arrows mark cars told to pull over; the pink ring is a junction held for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/>
          <p:nvPr>
            <p:ph type="title"/>
          </p:nvPr>
        </p:nvSpPr>
        <p:spPr>
          <a:xfrm>
            <a:off x="841248" y="365760"/>
            <a:ext cx="10515600" cy="758952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/>
              <a:t>Challenge 2: Results and Tradeoffs</a:t>
            </a:r>
            <a:endParaRPr sz="4000"/>
          </a:p>
        </p:txBody>
      </p:sp>
      <p:graphicFrame>
        <p:nvGraphicFramePr>
          <p:cNvPr id="112" name="Crossing time chart"/>
          <p:cNvGraphicFramePr>
            <a:graphicFrameLocks noGrp="1"/>
          </p:cNvGraphicFramePr>
          <p:nvPr/>
        </p:nvGraphicFramePr>
        <p:xfrm>
          <a:off x="841248" y="1325880"/>
          <a:ext cx="5486400" cy="2377440"/>
        </p:xfrm>
        <a:graphic>
          <a:graphicData uri="http://schemas.openxmlformats.org/drawingml/2006/chart">
            <c:chart r:id="rId6"/>
          </a:graphicData>
        </a:graphic>
      </p:graphicFrame>
      <p:sp>
        <p:nvSpPr>
          <p:cNvPr id="113" name="TextBox 112"/>
          <p:cNvSpPr txBox="1"/>
          <p:nvPr/>
        </p:nvSpPr>
        <p:spPr>
          <a:xfrm>
            <a:off x="932688" y="3977639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CC0033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32688" y="4480559"/>
            <a:ext cx="1737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cars removed by the gridlock guard: tests plus 5 scenarios with 24 units each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852928" y="3977639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CC0033"/>
                </a:solidFill>
                <a:latin typeface="Arial"/>
                <a:ea typeface="Arial"/>
                <a:cs typeface="Arial"/>
                <a:sym typeface="Arial"/>
              </a:rPr>
              <a:t>3 → 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852928" y="4480559"/>
            <a:ext cx="1737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deadlocks found by the stress run, all fixed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773168" y="3977639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CC0033"/>
                </a:solidFill>
                <a:latin typeface="Arial"/>
                <a:ea typeface="Arial"/>
                <a:cs typeface="Arial"/>
                <a:sym typeface="Arial"/>
              </a:rPr>
              <a:t>0.45 ms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773168" y="4480559"/>
            <a:ext cx="1737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per 0.1 s sim step at the peak (0.55 ms with 12 units and incidents)</a:t>
            </a:r>
          </a:p>
        </p:txBody>
      </p:sp>
      <p:sp>
        <p:nvSpPr>
          <p:cNvPr id="119" name="Tradeoffs panel"/>
          <p:cNvSpPr/>
          <p:nvPr/>
        </p:nvSpPr>
        <p:spPr>
          <a:xfrm>
            <a:off x="6812280" y="1325880"/>
            <a:ext cx="4572000" cy="36576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040880" y="1508760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Tradeoffs and limits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040880" y="1920240"/>
            <a:ext cx="41148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28600" indent="-22860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1300" b="1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Shoulder, not a second lane. </a:t>
            </a:r>
            <a:r>
              <a:rPr lang="en-US" sz="13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Pulling over is a 2 m sideways move; a unit never squeezes past a car that has not moved.</a:t>
            </a:r>
          </a:p>
          <a:p>
            <a:pPr marL="228600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1300" b="1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Blocked lanes are slow. </a:t>
            </a:r>
            <a:r>
              <a:rPr lang="en-US" sz="13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At an accident or lane closure cars pass one side at a time: about 650–700 cars an hour, so queues build at the peak.</a:t>
            </a:r>
          </a:p>
          <a:p>
            <a:pPr marL="228600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1300" b="1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 safety net stays. </a:t>
            </a:r>
            <a:r>
              <a:rPr lang="en-US" sz="13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 car stopped for 3 minutes is removed. It never fired in the tests, but we keep it.</a:t>
            </a:r>
          </a:p>
          <a:p>
            <a:pPr marL="228600" indent="-228600"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SzPct val="100000"/>
              <a:buFont typeface="Arial"/>
              <a:buChar char="•"/>
            </a:pPr>
            <a:r>
              <a:rPr lang="en-US" sz="1300" b="1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Turning round is crude. </a:t>
            </a:r>
            <a:r>
              <a:rPr lang="en-US" sz="13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 unit re-sent while driving back turns at its next junction, so it can go the wrong way first.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32688" y="54864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>
                <a:latin typeface="Arial"/>
                <a:ea typeface="Arial"/>
                <a:cs typeface="Arial"/>
                <a:sym typeface="Arial"/>
              </a:rPr>
              <a:t>Live build: </a:t>
            </a:r>
            <a:r>
              <a:rPr lang="en-US" sz="1300">
                <a:latin typeface="Arial"/>
                <a:ea typeface="Arial"/>
                <a:cs typeface="Arial"/>
                <a:sym typeface="Arial"/>
                <a:hlinkClick r:id="rId7"/>
              </a:rPr>
              <a:t>mihirshinde-29.github.io/rapid_route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